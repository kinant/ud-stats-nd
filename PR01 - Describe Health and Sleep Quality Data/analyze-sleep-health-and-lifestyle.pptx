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59" r:id="rId4"/>
    <p:sldId id="263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Open Sans Light" panose="020B0306030504020204" pitchFamily="34" charset="0"/>
      <p:regular r:id="rId14"/>
      <p:bold r:id="rId15"/>
      <p:italic r:id="rId16"/>
      <p:boldItalic r:id="rId17"/>
    </p:embeddedFont>
    <p:embeddedFont>
      <p:font typeface="Roboto Mono Light" panose="00000009000000000000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54" y="28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05b2e72063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C74A6339-71D1-5B01-A8FC-19D549B8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>
            <a:extLst>
              <a:ext uri="{FF2B5EF4-FFF2-40B4-BE49-F238E27FC236}">
                <a16:creationId xmlns:a16="http://schemas.microsoft.com/office/drawing/2014/main" id="{FEAF8819-61EB-15F9-A395-2B08CC451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>
            <a:extLst>
              <a:ext uri="{FF2B5EF4-FFF2-40B4-BE49-F238E27FC236}">
                <a16:creationId xmlns:a16="http://schemas.microsoft.com/office/drawing/2014/main" id="{F37A1F41-26FD-3C68-3AB7-D9AEF9B2C9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906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3dd687b2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3dd687b2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3dd687b2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13dd687b2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3dd687b2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3dd687b2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a Lesson Title ">
  <p:cSld name="TITLE_1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t="3419" b="-340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t="3419" b="-340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w="9525" cap="flat" cmpd="sng">
              <a:solidFill>
                <a:srgbClr val="171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a Full Bullet">
  <p:cSld name="TITLE_AND_BODY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g Full Graphic">
  <p:cSld name="TITLE_ONLY_1_1_1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b Third Card">
  <p:cSld name="TITLE_AND_BODY_1_1_1_3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name="adj" fmla="val 28421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endParaRPr sz="2600" b="1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ubTitle" idx="2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c Half Card">
  <p:cSld name="TITLE_AND_BODY_1_1_1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2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3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e Dual Card">
  <p:cSld name="CUSTOM_1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/>
          <p:nvPr/>
        </p:nvSpPr>
        <p:spPr>
          <a:xfrm rot="-5400000" flipH="1">
            <a:off x="846450" y="495600"/>
            <a:ext cx="7786200" cy="81378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1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ubTitle" idx="2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3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4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f Triple Card ">
  <p:cSld name="CUSTOM_1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1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2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3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4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5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6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de">
  <p:cSld name="TITLE_AND_BODY_1_1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>
            <a:spLocks noGrp="1"/>
          </p:cNvSpPr>
          <p:nvPr>
            <p:ph type="body" idx="1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Dual Code">
  <p:cSld name="TITLE_AND_BODY_1_1_1_1_2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1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2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Quote Full Card">
  <p:cSld name="CUSTOM_14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name="adj1" fmla="val 20143"/>
              <a:gd name="adj2" fmla="val 0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body" idx="1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419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 rtl="0">
              <a:buNone/>
              <a:defRPr sz="2000">
                <a:solidFill>
                  <a:schemeClr val="dk2"/>
                </a:solidFill>
              </a:defRPr>
            </a:lvl1pPr>
            <a:lvl2pPr lvl="1" algn="r" rtl="0">
              <a:buNone/>
              <a:defRPr sz="2000">
                <a:solidFill>
                  <a:schemeClr val="dk2"/>
                </a:solidFill>
              </a:defRPr>
            </a:lvl2pPr>
            <a:lvl3pPr lvl="2" algn="r" rtl="0">
              <a:buNone/>
              <a:defRPr sz="2000">
                <a:solidFill>
                  <a:schemeClr val="dk2"/>
                </a:solidFill>
              </a:defRPr>
            </a:lvl3pPr>
            <a:lvl4pPr lvl="3" algn="r" rtl="0">
              <a:buNone/>
              <a:defRPr sz="2000">
                <a:solidFill>
                  <a:schemeClr val="dk2"/>
                </a:solidFill>
              </a:defRPr>
            </a:lvl4pPr>
            <a:lvl5pPr lvl="4" algn="r" rtl="0">
              <a:buNone/>
              <a:defRPr sz="2000">
                <a:solidFill>
                  <a:schemeClr val="dk2"/>
                </a:solidFill>
              </a:defRPr>
            </a:lvl5pPr>
            <a:lvl6pPr lvl="5" algn="r" rtl="0">
              <a:buNone/>
              <a:defRPr sz="2000">
                <a:solidFill>
                  <a:schemeClr val="dk2"/>
                </a:solidFill>
              </a:defRPr>
            </a:lvl6pPr>
            <a:lvl7pPr lvl="6" algn="r" rtl="0">
              <a:buNone/>
              <a:defRPr sz="2000">
                <a:solidFill>
                  <a:schemeClr val="dk2"/>
                </a:solidFill>
              </a:defRPr>
            </a:lvl7pPr>
            <a:lvl8pPr lvl="7" algn="r" rtl="0">
              <a:buNone/>
              <a:defRPr sz="2000">
                <a:solidFill>
                  <a:schemeClr val="dk2"/>
                </a:solidFill>
              </a:defRPr>
            </a:lvl8pPr>
            <a:lvl9pPr lvl="8" algn="r" rtl="0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Sleep Health and Lifestyle Analysis</a:t>
            </a:r>
            <a:endParaRPr sz="1000"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endParaRPr b="1" dirty="0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endParaRPr b="1" dirty="0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 b="1" dirty="0"/>
              <a:t>Data Scientist: </a:t>
            </a:r>
            <a:r>
              <a:rPr lang="en-US" b="1" dirty="0"/>
              <a:t>Kinan Turman</a:t>
            </a:r>
            <a:endParaRPr b="1" dirty="0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endParaRPr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Results of sleep health and lifestyle analysis</a:t>
            </a:r>
            <a:endParaRPr sz="3000" dirty="0">
              <a:solidFill>
                <a:srgbClr val="2D3D4A"/>
              </a:solidFill>
            </a:endParaRPr>
          </a:p>
          <a:p>
            <a:pPr marL="914400" lvl="0" indent="-723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 dirty="0"/>
              <a:t>Data Description</a:t>
            </a:r>
            <a:endParaRPr sz="4200" dirty="0"/>
          </a:p>
          <a:p>
            <a:pPr marL="914400" lvl="0" indent="-723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 dirty="0"/>
              <a:t>Typical Amount of Physical Activity</a:t>
            </a:r>
            <a:endParaRPr sz="4200" dirty="0"/>
          </a:p>
          <a:p>
            <a:pPr marL="914400" lvl="0" indent="-723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 dirty="0"/>
              <a:t>Number of Daily Steps</a:t>
            </a:r>
            <a:endParaRPr sz="4200" dirty="0"/>
          </a:p>
          <a:p>
            <a:pPr marL="914400" lvl="0" indent="-723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 dirty="0"/>
              <a:t>Distribution of Heart Rates</a:t>
            </a:r>
            <a:endParaRPr sz="3000" dirty="0">
              <a:solidFill>
                <a:srgbClr val="2D3D4A"/>
              </a:solidFill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endParaRPr sz="3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Data Description</a:t>
            </a:r>
            <a:endParaRPr sz="6400" dirty="0"/>
          </a:p>
        </p:txBody>
      </p:sp>
      <p:sp>
        <p:nvSpPr>
          <p:cNvPr id="130" name="Google Shape;130;p16"/>
          <p:cNvSpPr txBox="1">
            <a:spLocks noGrp="1"/>
          </p:cNvSpPr>
          <p:nvPr>
            <p:ph type="body" idx="1"/>
          </p:nvPr>
        </p:nvSpPr>
        <p:spPr>
          <a:xfrm>
            <a:off x="685800" y="2171700"/>
            <a:ext cx="163938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914400" lvl="0" indent="-72390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  <a:buSzPts val="4200"/>
            </a:pPr>
            <a:r>
              <a:rPr lang="en-US" sz="3200" dirty="0"/>
              <a:t>Rows: 374</a:t>
            </a:r>
          </a:p>
          <a:p>
            <a:pPr marL="190500" lvl="0" indent="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  <a:buSzPts val="4200"/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pPr marL="914400" lvl="0" indent="-72390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  <a:buSzPts val="4200"/>
            </a:pPr>
            <a:r>
              <a:rPr lang="en-US" sz="3200" dirty="0">
                <a:solidFill>
                  <a:srgbClr val="000000"/>
                </a:solidFill>
              </a:rPr>
              <a:t>Columns: 13 - Person ID, Gender, Age, Occupation, Sleep Duration, Quality of Sleep, Physical Activity Level, Stress Level, BMI Category, Blood Pressure, Heart Rate, Daily Steps, Sleep Disorder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F2145BC9-6859-6C8A-9EA0-C57B8B705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>
            <a:extLst>
              <a:ext uri="{FF2B5EF4-FFF2-40B4-BE49-F238E27FC236}">
                <a16:creationId xmlns:a16="http://schemas.microsoft.com/office/drawing/2014/main" id="{E5BD7C52-22FD-EE9E-E240-B08DB06A12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Data Description</a:t>
            </a:r>
            <a:endParaRPr sz="6400" dirty="0"/>
          </a:p>
        </p:txBody>
      </p: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DE4CA07D-FB93-2FF0-D4B9-2FB3049E7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2171700"/>
            <a:ext cx="163938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sz="2800" b="1" u="sng" dirty="0"/>
              <a:t>Continuous Variables:</a:t>
            </a:r>
          </a:p>
          <a:p>
            <a:pPr marL="0" indent="0" algn="ctr">
              <a:buNone/>
            </a:pPr>
            <a:r>
              <a:rPr lang="en-US" sz="2800" dirty="0"/>
              <a:t>Sleep Duration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1" u="sng" dirty="0"/>
              <a:t>Integer Variables:</a:t>
            </a:r>
            <a:br>
              <a:rPr lang="en-US" sz="2800" dirty="0"/>
            </a:br>
            <a:r>
              <a:rPr lang="en-US" sz="2800" dirty="0"/>
              <a:t>Person ID, Age, Physical Activity Level, Heart Rate, Daily Steps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1" u="sng" dirty="0"/>
              <a:t>Ordinal Categorical Variables:</a:t>
            </a:r>
            <a:br>
              <a:rPr lang="en-US" sz="2800" dirty="0"/>
            </a:br>
            <a:r>
              <a:rPr lang="en-US" sz="2800" dirty="0"/>
              <a:t>Quality of Sleep, Stress Level, BMI Category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1" u="sng" dirty="0"/>
              <a:t>Nominal Categorical Variables:</a:t>
            </a:r>
            <a:br>
              <a:rPr lang="en-US" sz="2800" dirty="0"/>
            </a:br>
            <a:r>
              <a:rPr lang="en-US" sz="2800" dirty="0"/>
              <a:t>Gender, Occupation, Sleep Disorder, Blood Pressure</a:t>
            </a:r>
          </a:p>
          <a:p>
            <a:pPr marL="914400" lvl="0" indent="-68580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endParaRPr sz="2800" dirty="0">
              <a:solidFill>
                <a:srgbClr val="2D3D4A"/>
              </a:solidFill>
            </a:endParaRPr>
          </a:p>
          <a:p>
            <a:pPr marL="228600" lvl="0" indent="0" algn="ctr" rtl="0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endParaRPr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545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Typical Amount (Minutes) of Physical Activity</a:t>
            </a:r>
            <a:endParaRPr sz="6400" dirty="0"/>
          </a:p>
        </p:txBody>
      </p:sp>
      <p:sp>
        <p:nvSpPr>
          <p:cNvPr id="136" name="Google Shape;136;p17"/>
          <p:cNvSpPr txBox="1">
            <a:spLocks noGrp="1"/>
          </p:cNvSpPr>
          <p:nvPr>
            <p:ph type="body" idx="1"/>
          </p:nvPr>
        </p:nvSpPr>
        <p:spPr>
          <a:xfrm>
            <a:off x="3114674" y="1828799"/>
            <a:ext cx="13964975" cy="728662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800" dirty="0">
                <a:solidFill>
                  <a:srgbClr val="2D3D4A"/>
                </a:solidFill>
              </a:rPr>
              <a:t>Mean: 59.17</a:t>
            </a: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800" dirty="0">
                <a:solidFill>
                  <a:srgbClr val="2D3D4A"/>
                </a:solidFill>
              </a:rPr>
              <a:t>Median: 60.0</a:t>
            </a: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800" dirty="0">
                <a:solidFill>
                  <a:srgbClr val="2D3D4A"/>
                </a:solidFill>
              </a:rPr>
              <a:t>Mode: 60</a:t>
            </a: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endParaRPr lang="en-US" dirty="0">
              <a:solidFill>
                <a:srgbClr val="2D3D4A"/>
              </a:solidFill>
            </a:endParaRP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endParaRPr lang="en-US" dirty="0">
              <a:solidFill>
                <a:srgbClr val="2D3D4A"/>
              </a:solidFill>
            </a:endParaRP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endParaRPr lang="en-US" dirty="0">
              <a:solidFill>
                <a:srgbClr val="2D3D4A"/>
              </a:solidFill>
            </a:endParaRP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endParaRPr lang="en-US" dirty="0">
              <a:solidFill>
                <a:srgbClr val="2D3D4A"/>
              </a:solidFill>
            </a:endParaRPr>
          </a:p>
          <a:p>
            <a:pPr marL="914400" lvl="0" indent="-68580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</a:pPr>
            <a:r>
              <a:rPr lang="en-US" sz="2400" b="1" dirty="0"/>
              <a:t>What do the relationships between these values suggest about the skewness of the distribution associated with physical activity?</a:t>
            </a:r>
            <a:endParaRPr lang="en-US" sz="2400" b="1" dirty="0">
              <a:solidFill>
                <a:srgbClr val="2D3D4A"/>
              </a:solidFill>
            </a:endParaRPr>
          </a:p>
          <a:p>
            <a:pPr marL="228600" lvl="0" indent="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  <a:buNone/>
            </a:pPr>
            <a:r>
              <a:rPr lang="en-US" sz="2400" dirty="0">
                <a:solidFill>
                  <a:srgbClr val="2D3D4A"/>
                </a:solidFill>
              </a:rPr>
              <a:t>The mean, median and mode can be considered as equal, at ~60. This suggests that the data has a normal distribution. </a:t>
            </a:r>
            <a:endParaRPr sz="2400" dirty="0">
              <a:solidFill>
                <a:srgbClr val="2D3D4A"/>
              </a:solidFill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endParaRPr sz="3000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FE9EB2-4185-1EFB-4690-3C3472AD2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6" y="1816965"/>
            <a:ext cx="6411220" cy="4648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Analysis of Daily Steps Taken</a:t>
            </a:r>
            <a:endParaRPr sz="6400" dirty="0"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685850" y="1828799"/>
            <a:ext cx="16393800" cy="73437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914400" lvl="0" indent="-68580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</a:pPr>
            <a:r>
              <a:rPr lang="en-US" dirty="0">
                <a:solidFill>
                  <a:srgbClr val="2D3D4A"/>
                </a:solidFill>
              </a:rPr>
              <a:t>Variance: 2,617,651.14</a:t>
            </a:r>
          </a:p>
          <a:p>
            <a:pPr marL="914400" lvl="0" indent="-68580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</a:pPr>
            <a:r>
              <a:rPr lang="en-US" dirty="0">
                <a:solidFill>
                  <a:srgbClr val="2D3D4A"/>
                </a:solidFill>
              </a:rPr>
              <a:t>Standard Deviation: 1,617.92</a:t>
            </a: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dirty="0">
                <a:solidFill>
                  <a:srgbClr val="2D3D4A"/>
                </a:solidFill>
              </a:rPr>
              <a:t>Maximum: 10,000</a:t>
            </a: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dirty="0">
                <a:solidFill>
                  <a:srgbClr val="2D3D4A"/>
                </a:solidFill>
              </a:rPr>
              <a:t>Minimum: 3,000</a:t>
            </a: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dirty="0">
                <a:solidFill>
                  <a:srgbClr val="2D3D4A"/>
                </a:solidFill>
              </a:rPr>
              <a:t>Range: 7,000</a:t>
            </a: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dirty="0">
                <a:solidFill>
                  <a:srgbClr val="2D3D4A"/>
                </a:solidFill>
              </a:rPr>
              <a:t>Q1: 5,600</a:t>
            </a: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dirty="0">
                <a:solidFill>
                  <a:srgbClr val="2D3D4A"/>
                </a:solidFill>
              </a:rPr>
              <a:t>Q3: 8,000</a:t>
            </a: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dirty="0">
                <a:solidFill>
                  <a:srgbClr val="2D3D4A"/>
                </a:solidFill>
              </a:rPr>
              <a:t>IQR: 2,400</a:t>
            </a:r>
          </a:p>
          <a:p>
            <a:pPr marL="914400" indent="-68580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</a:pPr>
            <a:r>
              <a:rPr lang="en-US" dirty="0">
                <a:solidFill>
                  <a:srgbClr val="2D3D4A"/>
                </a:solidFill>
              </a:rPr>
              <a:t>Skew: 0.18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90033-5AF2-170E-2A49-2CBB5FB95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273" y="1893093"/>
            <a:ext cx="9286877" cy="65008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Distribution of Heart Rates</a:t>
            </a:r>
            <a:endParaRPr sz="6400"/>
          </a:p>
        </p:txBody>
      </p:sp>
      <p:sp>
        <p:nvSpPr>
          <p:cNvPr id="148" name="Google Shape;148;p19"/>
          <p:cNvSpPr txBox="1">
            <a:spLocks noGrp="1"/>
          </p:cNvSpPr>
          <p:nvPr>
            <p:ph type="body" idx="1"/>
          </p:nvPr>
        </p:nvSpPr>
        <p:spPr>
          <a:xfrm>
            <a:off x="302099" y="6551262"/>
            <a:ext cx="17683801" cy="685554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28600" lvl="0" indent="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  <a:buNone/>
            </a:pPr>
            <a:endParaRPr lang="en-US" b="1" dirty="0"/>
          </a:p>
          <a:p>
            <a:pPr marL="228600" lvl="0" indent="0">
              <a:lnSpc>
                <a:spcPct val="100000"/>
              </a:lnSpc>
              <a:spcBef>
                <a:spcPts val="1400"/>
              </a:spcBef>
              <a:buClr>
                <a:schemeClr val="dk1"/>
              </a:buClr>
              <a:buNone/>
            </a:pPr>
            <a:r>
              <a:rPr lang="en-US" b="1" dirty="0"/>
              <a:t>What is the shape of the distribution? Are there any outliers?</a:t>
            </a:r>
            <a:endParaRPr lang="en-US" sz="3000" dirty="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rPr lang="en-US" sz="3000" dirty="0">
                <a:solidFill>
                  <a:srgbClr val="000000"/>
                </a:solidFill>
              </a:rPr>
              <a:t>Shape is right-skewed. There are several outliers. </a:t>
            </a:r>
            <a:endParaRPr sz="3000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881F83-7D8A-0638-BD1B-C8F4F3269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74" y="1916978"/>
            <a:ext cx="14731285" cy="5141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263</Words>
  <Application>Microsoft Office PowerPoint</Application>
  <PresentationFormat>Custom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Open Sans Light</vt:lpstr>
      <vt:lpstr>Roboto Mono Light</vt:lpstr>
      <vt:lpstr>Open Sans</vt:lpstr>
      <vt:lpstr>Arial</vt:lpstr>
      <vt:lpstr>Udacity 2024 Student Template</vt:lpstr>
      <vt:lpstr>Sleep Health and Lifestyle Analysis</vt:lpstr>
      <vt:lpstr>Agenda</vt:lpstr>
      <vt:lpstr>Data Description</vt:lpstr>
      <vt:lpstr>Data Description</vt:lpstr>
      <vt:lpstr>Typical Amount (Minutes) of Physical Activity</vt:lpstr>
      <vt:lpstr>Analysis of Daily Steps Taken</vt:lpstr>
      <vt:lpstr>Distribution of Heart Rates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Kinan T</cp:lastModifiedBy>
  <cp:revision>7</cp:revision>
  <dcterms:modified xsi:type="dcterms:W3CDTF">2025-12-30T23:34:24Z</dcterms:modified>
</cp:coreProperties>
</file>